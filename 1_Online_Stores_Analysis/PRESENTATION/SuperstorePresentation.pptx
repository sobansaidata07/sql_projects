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ACEAD-43BE-48AA-9224-557A54070CD1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97C67-D7EE-44D4-9B21-B8E19767A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8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97C67-D7EE-44D4-9B21-B8E19767A3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03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5C64-BF84-FD9D-5B79-78F5DCED6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90EF5-660C-48EC-27F7-6405BBAF2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46296-EAE0-0760-4D1E-F6CCDDD4C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51059-6C69-52B7-18E9-D6FEB557D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97C67-D7EE-44D4-9B21-B8E19767A31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02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5E54-F733-5A58-7A36-026344DE7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08A27-308B-86C9-C05A-2F5D37483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F376-E4BE-BAA0-59A2-17397628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FD87-341C-898F-4355-B4DAC14D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C8975-FAD8-7E94-7566-B8883B88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2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9E32-A9D0-07E4-DEC3-9B970EBD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03DAE-89E7-A14A-056B-4705ECCF7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AC71F-7B6A-6CD7-CD58-3D79E18E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09A03-A529-90B2-8C8A-66EC8BF6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F47AE-3EDE-E0D3-03CD-353F0B2B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69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D5C4-8016-FC73-877A-076A4259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683FE-EDAD-83A7-A47A-E96A8553C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97E3B-67B3-1F8A-7033-81276776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2450-8176-56A2-3FA5-98B89479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D1E91-CF26-1928-432C-CB06888F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42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E9B-1A6B-F27C-974D-98AF6B6A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21805-80DC-6351-0088-F1DB93A52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906D3-3F5A-73F2-62BC-F2A34D759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C5FE5-883C-0D8D-94AA-CCCB37C2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48F33-877D-E829-59CE-6084D5BA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CEB45-545B-5D27-0770-D1A3BAA1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0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CD0AD-2494-5565-EEA6-19B87589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F6841-DB41-E6B3-0A38-1F6217B02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813BB-AB09-EE5E-F795-F0CAAFFEC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3145E-0F14-310C-54C9-6CADFDEDA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95C91-2443-B366-52CE-21A9CB422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17D7B-C91B-E371-6B88-6630BA3A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20FE9-2A78-4118-35CE-0D86CBBB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66FBA-11EA-BDD5-0040-ED58CDDC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99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DBF8-01F0-EF11-925F-4AB5F8B23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32B24-6B5A-6F4B-42F7-3F1F96F5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47366-B6BD-2DB4-C8BE-7F46E232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056E1-2357-BB9F-3968-4FC57652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2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6CDB4-5C77-DF98-4738-03EBEAC8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3A54F-9CC0-8A10-99B0-D3EE7F01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99B84-3C56-8ACE-D596-885F55FA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28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0381-5486-0F67-0E8F-C68B448A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BD59-9C89-759B-2F96-4D2419183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D31B5-2C44-383F-F906-9B2B306F8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32FD0-5F30-3A52-E8EB-AAC9E113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E8753-DBE0-4A05-AA7A-23C98437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7804-18C8-1AFE-B435-D150E3C0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2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9C80-5100-49AF-FC22-D0933BD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7F65F-DA36-26C1-2A63-5CB2BB9DF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F2B5A-93BD-212F-EB11-6B1C9DB0B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B031F-49C7-3C7F-EA57-7745AE8D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44E62-155A-4197-558F-16716733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FAFA-F4A2-1EF2-BFC9-F07D64A7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87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6829-869C-9BC8-F523-67FA3BCF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E802C-0CF9-49C1-6B0B-59517BB84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39243-7DDC-41D3-9ED3-2A2FA702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DE283-39D0-7299-A635-23A52F20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C2A59-DB3A-9A19-CA54-B94A5D76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7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B73E3-E63D-5905-A053-A299E0AC3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9B51E-A48C-D6DD-4553-C004229AA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8885-C38B-D3C1-C46D-33502565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C8DF5-5451-2EA9-A785-5146069E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5807-B01E-8847-CAB3-43B3D261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1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B7CFA-A380-E0DC-D237-0F344866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67B76-A47C-F222-9D2C-551FBB0D9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763C3-2F0B-FF36-E139-3D8A110BC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1E55F-5A96-4723-A0C8-53D6D4D9DCD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82873-4D6B-02FB-6D8C-698844F5C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DC90-366E-B397-891D-7433A0852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C29A9-09F9-408C-AF73-33248D12F6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30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26A9-E3DE-6E92-21FE-3A08A415C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573F7-BD71-51FD-71B4-A5810E70C9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A7E197-0D4A-6574-1955-15A19E1B74BB}"/>
              </a:ext>
            </a:extLst>
          </p:cNvPr>
          <p:cNvSpPr/>
          <p:nvPr/>
        </p:nvSpPr>
        <p:spPr>
          <a:xfrm>
            <a:off x="-109728" y="-82296"/>
            <a:ext cx="12490704" cy="71140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AECF65-178F-70B1-BF20-E839275DABE6}"/>
              </a:ext>
            </a:extLst>
          </p:cNvPr>
          <p:cNvSpPr/>
          <p:nvPr/>
        </p:nvSpPr>
        <p:spPr>
          <a:xfrm>
            <a:off x="2958084" y="1030288"/>
            <a:ext cx="6355080" cy="198659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Baskerville Old Face" panose="02020602080505020303" pitchFamily="18" charset="0"/>
              </a:rPr>
              <a:t>Superstore Sales Transformation </a:t>
            </a:r>
          </a:p>
          <a:p>
            <a:pPr algn="ctr"/>
            <a:r>
              <a:rPr lang="en-US" b="1" dirty="0">
                <a:latin typeface="Baskerville Old Face" panose="02020602080505020303" pitchFamily="18" charset="0"/>
              </a:rPr>
              <a:t> Manual Records to Online Analytics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10E118-3D80-DF43-4456-1CAE2A5F494A}"/>
              </a:ext>
            </a:extLst>
          </p:cNvPr>
          <p:cNvSpPr/>
          <p:nvPr/>
        </p:nvSpPr>
        <p:spPr>
          <a:xfrm>
            <a:off x="374904" y="3321621"/>
            <a:ext cx="3154680" cy="301752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784965-A822-43DE-1990-69EC7A21CCF5}"/>
              </a:ext>
            </a:extLst>
          </p:cNvPr>
          <p:cNvSpPr/>
          <p:nvPr/>
        </p:nvSpPr>
        <p:spPr>
          <a:xfrm>
            <a:off x="8906256" y="3321621"/>
            <a:ext cx="3154680" cy="301752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1C94A3-D551-CFDA-278A-28DB03ED2E95}"/>
              </a:ext>
            </a:extLst>
          </p:cNvPr>
          <p:cNvSpPr/>
          <p:nvPr/>
        </p:nvSpPr>
        <p:spPr>
          <a:xfrm>
            <a:off x="4930142" y="3735324"/>
            <a:ext cx="2680716" cy="1911096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4360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AFB969-98A3-CFCF-44A8-1F51D1C86A7F}"/>
              </a:ext>
            </a:extLst>
          </p:cNvPr>
          <p:cNvCxnSpPr>
            <a:cxnSpLocks/>
          </p:cNvCxnSpPr>
          <p:nvPr/>
        </p:nvCxnSpPr>
        <p:spPr>
          <a:xfrm>
            <a:off x="3767328" y="4690872"/>
            <a:ext cx="81381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0233EE-4188-63F4-193F-29E20F3DACA5}"/>
              </a:ext>
            </a:extLst>
          </p:cNvPr>
          <p:cNvCxnSpPr>
            <a:cxnSpLocks/>
          </p:cNvCxnSpPr>
          <p:nvPr/>
        </p:nvCxnSpPr>
        <p:spPr>
          <a:xfrm>
            <a:off x="7915656" y="4706112"/>
            <a:ext cx="813816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02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0437-ED2D-A557-537F-4E936904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6D78-0B8D-0C02-B690-47DE6D17B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7F9F2-E480-23B6-1AAC-35EB54763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99044-C1EA-6502-CBDA-E0B2AC69FB64}"/>
              </a:ext>
            </a:extLst>
          </p:cNvPr>
          <p:cNvSpPr/>
          <p:nvPr/>
        </p:nvSpPr>
        <p:spPr>
          <a:xfrm>
            <a:off x="-298704" y="-47053"/>
            <a:ext cx="12490704" cy="71140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89C106-C3A2-BABE-0031-F8CF9A6EB2B8}"/>
              </a:ext>
            </a:extLst>
          </p:cNvPr>
          <p:cNvSpPr/>
          <p:nvPr/>
        </p:nvSpPr>
        <p:spPr>
          <a:xfrm>
            <a:off x="166116" y="83027"/>
            <a:ext cx="11931396" cy="198659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Baskerville Old Face" panose="02020602080505020303" pitchFamily="18" charset="0"/>
              </a:rPr>
              <a:t>Problem Statement:</a:t>
            </a:r>
          </a:p>
          <a:p>
            <a:pPr algn="ctr"/>
            <a:r>
              <a:rPr lang="en-US" sz="2400" dirty="0">
                <a:latin typeface="Bahnschrift Light" panose="020B0502040204020203" pitchFamily="34" charset="0"/>
              </a:rPr>
              <a:t>An Online store wants to improve its sales and performance . Earlier the data was manually noted and analyzed. Now it’s moving its data online and wants to analyze the same for better Sales and Revenue </a:t>
            </a:r>
            <a:endParaRPr lang="en-IN" sz="2400" b="1" dirty="0">
              <a:latin typeface="Bahnschrift Light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F38CD3-6602-8C25-6B80-3688FC24156E}"/>
              </a:ext>
            </a:extLst>
          </p:cNvPr>
          <p:cNvSpPr/>
          <p:nvPr/>
        </p:nvSpPr>
        <p:spPr>
          <a:xfrm>
            <a:off x="87911" y="2680525"/>
            <a:ext cx="5947410" cy="409444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Arial Rounded MT Bold" panose="020F0704030504030204" pitchFamily="34" charset="0"/>
              </a:rPr>
              <a:t>High Discounting Reduced Profitability</a:t>
            </a:r>
          </a:p>
          <a:p>
            <a:r>
              <a:rPr lang="en-US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Insight:</a:t>
            </a:r>
            <a:r>
              <a:rPr lang="en-US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Gross sales were $2.83M, but $561K was given as discounts.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profit was $844K, yet actual profit dropped to $282K. 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Optimize discount strategy by setting maximum discount at a rate,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especially in loss-making states and low-performing cities, to protect profit margins</a:t>
            </a:r>
            <a:endParaRPr lang="en-IN" b="1" dirty="0">
              <a:latin typeface="Bahnschrift Light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8DEC0-0158-D9A1-C943-E1E7BFFE4EC2}"/>
              </a:ext>
            </a:extLst>
          </p:cNvPr>
          <p:cNvSpPr/>
          <p:nvPr/>
        </p:nvSpPr>
        <p:spPr>
          <a:xfrm>
            <a:off x="6078474" y="2680525"/>
            <a:ext cx="5947410" cy="409444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Arial Rounded MT Bold" panose="020F0704030504030204" pitchFamily="34" charset="0"/>
              </a:rPr>
              <a:t>Strong Recovery Post 2015</a:t>
            </a:r>
          </a:p>
          <a:p>
            <a:r>
              <a:rPr lang="en-US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Insight:</a:t>
            </a:r>
            <a:r>
              <a:rPr lang="en-US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declined in 2015 but rebounded strongly with 29% growth in 2016 and 20% in 2017. Revenue rose from $601K to $725K, and profit improved from $80K to $93K.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Continue growth momentum with targeted marketing and focus on high-performing product lines to sustain recovery.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E9CDF2-926C-49B5-B70B-BCDF84C4CF05}"/>
              </a:ext>
            </a:extLst>
          </p:cNvPr>
          <p:cNvSpPr/>
          <p:nvPr/>
        </p:nvSpPr>
        <p:spPr>
          <a:xfrm>
            <a:off x="5082480" y="2116482"/>
            <a:ext cx="1905681" cy="54132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Analysis &amp; Solutions</a:t>
            </a:r>
            <a:endParaRPr lang="en-IN" sz="1400" b="1" dirty="0">
              <a:solidFill>
                <a:schemeClr val="accent2">
                  <a:lumMod val="75000"/>
                </a:schemeClr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4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F0A320-FF9A-B22F-EC0D-E1DBD3ED7025}"/>
              </a:ext>
            </a:extLst>
          </p:cNvPr>
          <p:cNvSpPr/>
          <p:nvPr/>
        </p:nvSpPr>
        <p:spPr>
          <a:xfrm>
            <a:off x="-149352" y="-128016"/>
            <a:ext cx="12490704" cy="711403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3E8057-2595-5D5C-643D-5D981D6630D5}"/>
              </a:ext>
            </a:extLst>
          </p:cNvPr>
          <p:cNvSpPr/>
          <p:nvPr/>
        </p:nvSpPr>
        <p:spPr>
          <a:xfrm>
            <a:off x="148590" y="311531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Furniture Category Shows Profit Leakage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Bookcases and Tables are loss-making due to 40–60% discount rates, causing major profit leakage in the Furniture category.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Re-evaluate pricing for these products, reduce excessive discounts, or discontinue low-performing SKUs to improve category profitability.</a:t>
            </a:r>
            <a:endParaRPr lang="en-IN" sz="1500" b="1" dirty="0">
              <a:latin typeface="Bahnschrift Light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B9DB6D-945F-EA0A-4E0D-97AE5FA464CF}"/>
              </a:ext>
            </a:extLst>
          </p:cNvPr>
          <p:cNvSpPr/>
          <p:nvPr/>
        </p:nvSpPr>
        <p:spPr>
          <a:xfrm>
            <a:off x="148590" y="3583814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Sales Spikes Do Not Guarantee Profit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November and December show clear sales peaks </a:t>
            </a:r>
            <a:r>
              <a:rPr lang="en-US" sz="1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bcz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</a:t>
            </a:r>
            <a:r>
              <a:rPr lang="en-US" sz="15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Black Friday sales</a:t>
            </a:r>
            <a:r>
              <a:rPr lang="en-US" sz="15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but profit ratio remains only 12.45% due to heavy discounting.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Maintain Q4 sales volume while reducing excessive discounts. Offer bundle deals or value-added promotions instead of deep price cuts.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A41DD7-2D4E-9DFA-F054-4D9B74AE9576}"/>
              </a:ext>
            </a:extLst>
          </p:cNvPr>
          <p:cNvSpPr/>
          <p:nvPr/>
        </p:nvSpPr>
        <p:spPr>
          <a:xfrm>
            <a:off x="6096000" y="311530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Technology is the Most Profitable Category</a:t>
            </a:r>
          </a:p>
          <a:p>
            <a:endParaRPr lang="en-US" sz="1500" b="1" dirty="0">
              <a:latin typeface="Baskerville Old Face" panose="02020602080505020303" pitchFamily="18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Technology products are loss-making. The Canon 2200 Advance Copier was the top profit driver in 2016–2017, showing stable, high-margin performance.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promotion and inventory for Technology products. Bundle high-margin tech items to maximize sales and profits.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4E2190-08D1-FD43-978D-BFAFF0CDD129}"/>
              </a:ext>
            </a:extLst>
          </p:cNvPr>
          <p:cNvSpPr/>
          <p:nvPr/>
        </p:nvSpPr>
        <p:spPr>
          <a:xfrm>
            <a:off x="6096000" y="3583813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Returns Negatively Impact Revenue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Returned orders account for $177,168 in sales, reducing net revenue and overall profitability.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Shockingly California has 24.6% of returns out of 296 returns.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 root causes of returns, improve product quality or delivery, and implement stricter return policies where necessary.</a:t>
            </a:r>
            <a:endParaRPr lang="en-IN" sz="1500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8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328C-9E7D-002A-E7C1-6E887C72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3E66C9-088C-01B2-5789-61F6954D67CC}"/>
              </a:ext>
            </a:extLst>
          </p:cNvPr>
          <p:cNvSpPr/>
          <p:nvPr/>
        </p:nvSpPr>
        <p:spPr>
          <a:xfrm>
            <a:off x="-149352" y="-128016"/>
            <a:ext cx="12490704" cy="711403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C992F8-ED11-4618-EFD3-941C174106BC}"/>
              </a:ext>
            </a:extLst>
          </p:cNvPr>
          <p:cNvSpPr/>
          <p:nvPr/>
        </p:nvSpPr>
        <p:spPr>
          <a:xfrm>
            <a:off x="148590" y="311531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Excessive Discounts Lower City-Level Profitability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Cities with low discounts (6–8%) perform better than those with high discounts (30–40%). Higher discounts reduce profitability.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Standardize pricing and avoid heavy discounting on underperforming products. Use data-driven pricing strategies to maximize profit.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D793B-A1D9-02E6-33B4-3846CDB1B157}"/>
              </a:ext>
            </a:extLst>
          </p:cNvPr>
          <p:cNvSpPr/>
          <p:nvPr/>
        </p:nvSpPr>
        <p:spPr>
          <a:xfrm>
            <a:off x="148590" y="3583814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High Orders Don’t Always Equal High Profit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California has 1,003 orders, but profit difference with New York is small. Texas has 484 orders but is loss-making due to high discounts. California with 73 returns out of </a:t>
            </a:r>
            <a:r>
              <a:rPr lang="en-US"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296 returns.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sales strategy on profit margin rather than volume. Introduce state-specific pricing strategies to balance sales and profitability.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A65193-0CAC-7F8C-6EA2-2384705031FA}"/>
              </a:ext>
            </a:extLst>
          </p:cNvPr>
          <p:cNvSpPr/>
          <p:nvPr/>
        </p:nvSpPr>
        <p:spPr>
          <a:xfrm>
            <a:off x="6096000" y="311530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Regional Discount Control Needed</a:t>
            </a:r>
          </a:p>
          <a:p>
            <a:endParaRPr lang="en-US" sz="1500" b="1" dirty="0">
              <a:latin typeface="Baskerville Old Face" panose="02020602080505020303" pitchFamily="18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Several loss-making states in the West and South have high discount percentages, directly reducing regional profits.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discount optimization and region-specific pricing in West and South regions to improve margins.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C0E604-7080-206F-9E41-C948C66D2CFC}"/>
              </a:ext>
            </a:extLst>
          </p:cNvPr>
          <p:cNvSpPr/>
          <p:nvPr/>
        </p:nvSpPr>
        <p:spPr>
          <a:xfrm>
            <a:off x="6096000" y="3583813"/>
            <a:ext cx="5947410" cy="29626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latin typeface="Arial Rounded MT Bold" panose="020F0704030504030204" pitchFamily="34" charset="0"/>
              </a:rPr>
              <a:t>Gold &amp; Silver Customers Drive Revenue</a:t>
            </a:r>
          </a:p>
          <a:p>
            <a:r>
              <a:rPr lang="en-US" sz="1500" b="1" dirty="0">
                <a:latin typeface="Baskerville Old Face" panose="02020602080505020303" pitchFamily="18" charset="0"/>
              </a:rPr>
              <a:t>     </a:t>
            </a:r>
          </a:p>
          <a:p>
            <a:r>
              <a:rPr lang="en-US" sz="1500" b="1" dirty="0">
                <a:latin typeface="Arial Black" panose="020B0A04020102020204" pitchFamily="34" charset="0"/>
              </a:rPr>
              <a:t>Insight:</a:t>
            </a:r>
            <a:r>
              <a:rPr lang="en-US" sz="1500" b="1" dirty="0">
                <a:latin typeface="Baskerville Old Face" panose="02020602080505020303" pitchFamily="18" charset="0"/>
              </a:rPr>
              <a:t>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14 Gold and 131 Silver customers contribute a significant share of revenue, while 648 Bronze customers contribute minimally.</a:t>
            </a:r>
          </a:p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500" b="1" dirty="0">
                <a:latin typeface="Arial Black" panose="020B0A04020102020204" pitchFamily="34" charset="0"/>
              </a:rPr>
              <a:t>Solution: 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Strengthen loyalty programs and offer personalized benefits to Gold and Silver customers to encourage repeat purchases.</a:t>
            </a:r>
          </a:p>
        </p:txBody>
      </p:sp>
    </p:spTree>
    <p:extLst>
      <p:ext uri="{BB962C8B-B14F-4D97-AF65-F5344CB8AC3E}">
        <p14:creationId xmlns:p14="http://schemas.microsoft.com/office/powerpoint/2010/main" val="168593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3CE1F-ECB0-8362-A824-360C8DA8673D}"/>
              </a:ext>
            </a:extLst>
          </p:cNvPr>
          <p:cNvSpPr/>
          <p:nvPr/>
        </p:nvSpPr>
        <p:spPr>
          <a:xfrm>
            <a:off x="-149352" y="-128016"/>
            <a:ext cx="12490704" cy="71140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F16F3E-7800-12C9-EC92-8D73B185B43D}"/>
              </a:ext>
            </a:extLst>
          </p:cNvPr>
          <p:cNvSpPr/>
          <p:nvPr/>
        </p:nvSpPr>
        <p:spPr>
          <a:xfrm>
            <a:off x="590349" y="2531444"/>
            <a:ext cx="11011301" cy="404261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Heavy discounting reduced profit from $844K potential to $282K actual.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Sales strongly recovered after 2015 with solid growth in 2016 and 2017.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Furniture (Bookcases &amp; Tables) is loss-making due to very high discounts.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Technology is the most stable and profitable category.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Q4 has high sales but low profit because of heavy discounting.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Returns worth $177K are reducing overall revenue and profit.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A small group of Gold and Silver customers drives most revenue.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High order volume does not guarantee high profit due to excessive discounts.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West and South regions suffer losses from high discount rates.</a:t>
            </a:r>
            <a:endParaRPr lang="en-IN" sz="2000" dirty="0"/>
          </a:p>
          <a:p>
            <a:pPr marL="742950" lvl="1" indent="-285750" eaLnBrk="0" fontAlgn="base" hangingPunct="0">
              <a:buFont typeface="Wingdings" panose="05000000000000000000" pitchFamily="2" charset="2"/>
              <a:buChar char="v"/>
            </a:pPr>
            <a:r>
              <a:rPr lang="en-US" sz="2000" dirty="0"/>
              <a:t>Controlling discounts and focusing on profitable products is the key solution.</a:t>
            </a:r>
            <a:endParaRPr lang="en-IN" sz="2000" dirty="0"/>
          </a:p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89A996-D2D7-DFD9-098C-9CA36B76E8D6}"/>
              </a:ext>
            </a:extLst>
          </p:cNvPr>
          <p:cNvSpPr/>
          <p:nvPr/>
        </p:nvSpPr>
        <p:spPr>
          <a:xfrm>
            <a:off x="7208841" y="-17325"/>
            <a:ext cx="3154680" cy="243807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FECF7E-0DBE-5FA0-53DB-CE50C142DF59}"/>
              </a:ext>
            </a:extLst>
          </p:cNvPr>
          <p:cNvSpPr/>
          <p:nvPr/>
        </p:nvSpPr>
        <p:spPr>
          <a:xfrm>
            <a:off x="2948459" y="866658"/>
            <a:ext cx="2922952" cy="952517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Baskerville Old Face" panose="02020602080505020303" pitchFamily="18" charset="0"/>
              </a:rPr>
              <a:t>Final Analysis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50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723</Words>
  <Application>Microsoft Office PowerPoint</Application>
  <PresentationFormat>Widescreen</PresentationFormat>
  <Paragraphs>91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Arial Rounded MT Bold</vt:lpstr>
      <vt:lpstr>Bahnschrift Light</vt:lpstr>
      <vt:lpstr>Baskerville Old Face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 M</dc:creator>
  <cp:lastModifiedBy>Vijaya M</cp:lastModifiedBy>
  <cp:revision>5</cp:revision>
  <dcterms:created xsi:type="dcterms:W3CDTF">2026-03-04T06:15:55Z</dcterms:created>
  <dcterms:modified xsi:type="dcterms:W3CDTF">2026-03-04T11:31:28Z</dcterms:modified>
</cp:coreProperties>
</file>